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TS Deniz Bold" charset="1" panose="00000800000000000000"/>
      <p:regular r:id="rId28"/>
    </p:embeddedFont>
    <p:embeddedFont>
      <p:font typeface="Helios Bold" charset="1" panose="020B0704020202020204"/>
      <p:regular r:id="rId29"/>
    </p:embeddedFont>
    <p:embeddedFont>
      <p:font typeface="Borel" charset="1" panose="00000000000000000000"/>
      <p:regular r:id="rId30"/>
    </p:embeddedFont>
    <p:embeddedFont>
      <p:font typeface="Helios" charset="1" panose="020B0504020202020204"/>
      <p:regular r:id="rId31"/>
    </p:embeddedFont>
    <p:embeddedFont>
      <p:font typeface="Helios Italics" charset="1" panose="020B050302020209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009650"/>
            <a:ext cx="12867103" cy="0"/>
          </a:xfrm>
          <a:prstGeom prst="line">
            <a:avLst/>
          </a:prstGeom>
          <a:ln cap="flat" w="85725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5400000">
            <a:off x="-3185427" y="8404843"/>
            <a:ext cx="7715406" cy="3535431"/>
            <a:chOff x="0" y="0"/>
            <a:chExt cx="88689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6891" cy="406400"/>
            </a:xfrm>
            <a:custGeom>
              <a:avLst/>
              <a:gdLst/>
              <a:ahLst/>
              <a:cxnLst/>
              <a:rect r="r" b="b" t="t" l="l"/>
              <a:pathLst>
                <a:path h="406400" w="886891">
                  <a:moveTo>
                    <a:pt x="683691" y="0"/>
                  </a:moveTo>
                  <a:cubicBezTo>
                    <a:pt x="795915" y="0"/>
                    <a:pt x="886891" y="90976"/>
                    <a:pt x="886891" y="203200"/>
                  </a:cubicBezTo>
                  <a:cubicBezTo>
                    <a:pt x="886891" y="315424"/>
                    <a:pt x="795915" y="406400"/>
                    <a:pt x="6836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8689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4081410" y="-1868588"/>
            <a:ext cx="7426906" cy="3737176"/>
            <a:chOff x="0" y="0"/>
            <a:chExt cx="80764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5589" y="1693473"/>
            <a:ext cx="15015477" cy="389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24"/>
              </a:lnSpc>
            </a:pPr>
            <a:r>
              <a:rPr lang="en-US" b="true" sz="7446" spc="-24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PROYECTO FINAL</a:t>
            </a:r>
          </a:p>
          <a:p>
            <a:pPr algn="ctr">
              <a:lnSpc>
                <a:spcPts val="10424"/>
              </a:lnSpc>
            </a:pPr>
            <a:r>
              <a:rPr lang="en-US" b="true" sz="7446" spc="-24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TEMÁTICA 6: </a:t>
            </a:r>
          </a:p>
          <a:p>
            <a:pPr algn="ctr">
              <a:lnSpc>
                <a:spcPts val="10424"/>
              </a:lnSpc>
              <a:spcBef>
                <a:spcPct val="0"/>
              </a:spcBef>
            </a:pPr>
            <a:r>
              <a:rPr lang="en-US" b="true" sz="7446" spc="-24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 ANÁLISIS DE TEXTOS EN ESPA˜NOL</a:t>
            </a: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15751254" y="2375175"/>
            <a:ext cx="959812" cy="95981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4168622" y="9301162"/>
            <a:ext cx="13090678" cy="0"/>
          </a:xfrm>
          <a:prstGeom prst="line">
            <a:avLst/>
          </a:prstGeom>
          <a:ln cap="flat" w="85725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43702" y="8715761"/>
            <a:ext cx="3524919" cy="352491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7849" y="6229506"/>
            <a:ext cx="1212142" cy="1165796"/>
            <a:chOff x="0" y="0"/>
            <a:chExt cx="1616189" cy="155439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554394" cy="155439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07634" y="45839"/>
              <a:ext cx="1508555" cy="1508555"/>
            </a:xfrm>
            <a:custGeom>
              <a:avLst/>
              <a:gdLst/>
              <a:ahLst/>
              <a:cxnLst/>
              <a:rect r="r" b="b" t="t" l="l"/>
              <a:pathLst>
                <a:path h="1508555" w="1508555">
                  <a:moveTo>
                    <a:pt x="0" y="0"/>
                  </a:moveTo>
                  <a:lnTo>
                    <a:pt x="1508555" y="0"/>
                  </a:lnTo>
                  <a:lnTo>
                    <a:pt x="1508555" y="1508555"/>
                  </a:lnTo>
                  <a:lnTo>
                    <a:pt x="0" y="15085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-5400000">
            <a:off x="13895803" y="-2200160"/>
            <a:ext cx="3899060" cy="3899060"/>
          </a:xfrm>
          <a:custGeom>
            <a:avLst/>
            <a:gdLst/>
            <a:ahLst/>
            <a:cxnLst/>
            <a:rect r="r" b="b" t="t" l="l"/>
            <a:pathLst>
              <a:path h="3899060" w="3899060">
                <a:moveTo>
                  <a:pt x="0" y="0"/>
                </a:moveTo>
                <a:lnTo>
                  <a:pt x="3899060" y="0"/>
                </a:lnTo>
                <a:lnTo>
                  <a:pt x="3899060" y="3899060"/>
                </a:lnTo>
                <a:lnTo>
                  <a:pt x="0" y="3899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153116" y="7090877"/>
            <a:ext cx="5388387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Integrantes: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Orduña Hernández Gael Neftalí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Rivera Murillo José Manuel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Hernandez Velazquez Ariel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1517" y="1810706"/>
            <a:ext cx="7548515" cy="149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92"/>
              </a:lnSpc>
              <a:spcBef>
                <a:spcPct val="0"/>
              </a:spcBef>
            </a:pPr>
            <a:r>
              <a:rPr lang="en-US" sz="8780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Índice de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028275" y="7957867"/>
            <a:ext cx="8846265" cy="4053624"/>
            <a:chOff x="0" y="0"/>
            <a:chExt cx="886891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6891" cy="406400"/>
            </a:xfrm>
            <a:custGeom>
              <a:avLst/>
              <a:gdLst/>
              <a:ahLst/>
              <a:cxnLst/>
              <a:rect r="r" b="b" t="t" l="l"/>
              <a:pathLst>
                <a:path h="406400" w="886891">
                  <a:moveTo>
                    <a:pt x="683691" y="0"/>
                  </a:moveTo>
                  <a:cubicBezTo>
                    <a:pt x="795915" y="0"/>
                    <a:pt x="886891" y="90976"/>
                    <a:pt x="886891" y="203200"/>
                  </a:cubicBezTo>
                  <a:cubicBezTo>
                    <a:pt x="886891" y="315424"/>
                    <a:pt x="795915" y="406400"/>
                    <a:pt x="6836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8689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91517" y="2814314"/>
            <a:ext cx="8536993" cy="155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19"/>
              </a:lnSpc>
              <a:spcBef>
                <a:spcPct val="0"/>
              </a:spcBef>
            </a:pPr>
            <a:r>
              <a:rPr lang="en-US" b="true" sz="9085" spc="-299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CONTENIDOS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94858" y="8320921"/>
            <a:ext cx="1028463" cy="102846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1391517" y="6566350"/>
            <a:ext cx="2783034" cy="2783034"/>
          </a:xfrm>
          <a:custGeom>
            <a:avLst/>
            <a:gdLst/>
            <a:ahLst/>
            <a:cxnLst/>
            <a:rect r="r" b="b" t="t" l="l"/>
            <a:pathLst>
              <a:path h="2783034" w="2783034">
                <a:moveTo>
                  <a:pt x="0" y="0"/>
                </a:moveTo>
                <a:lnTo>
                  <a:pt x="2783034" y="0"/>
                </a:lnTo>
                <a:lnTo>
                  <a:pt x="2783034" y="2783034"/>
                </a:lnTo>
                <a:lnTo>
                  <a:pt x="0" y="2783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10106218" y="2916256"/>
            <a:ext cx="7172164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106162" y="4502349"/>
            <a:ext cx="7172274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087075" y="5818063"/>
            <a:ext cx="7172225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086747" y="7210329"/>
            <a:ext cx="7172553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500841" y="1896431"/>
            <a:ext cx="6777929" cy="57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9"/>
              </a:lnSpc>
              <a:spcBef>
                <a:spcPct val="0"/>
              </a:spcBef>
            </a:pPr>
            <a:r>
              <a:rPr lang="en-US" b="true" sz="3270" spc="192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01. Contexto y motivación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00841" y="3395287"/>
            <a:ext cx="6758459" cy="57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9"/>
              </a:lnSpc>
              <a:spcBef>
                <a:spcPct val="0"/>
              </a:spcBef>
            </a:pPr>
            <a:r>
              <a:rPr lang="en-US" b="true" sz="3270" spc="192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02. Modelado y Diseño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00841" y="4545548"/>
            <a:ext cx="6758459" cy="115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9"/>
              </a:lnSpc>
              <a:spcBef>
                <a:spcPct val="0"/>
              </a:spcBef>
            </a:pPr>
            <a:r>
              <a:rPr lang="en-US" b="true" sz="3270" spc="192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03. Imolementación y Resultados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81371" y="6189538"/>
            <a:ext cx="6777929" cy="57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9"/>
              </a:lnSpc>
              <a:spcBef>
                <a:spcPct val="0"/>
              </a:spcBef>
            </a:pPr>
            <a:r>
              <a:rPr lang="en-US" b="true" sz="3270" spc="192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04. Reflexión ética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0106218" y="1399890"/>
            <a:ext cx="7172553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986999" y="-2149600"/>
            <a:ext cx="6316248" cy="3178300"/>
            <a:chOff x="0" y="0"/>
            <a:chExt cx="80764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-565845"/>
            <a:ext cx="15452455" cy="11836184"/>
            <a:chOff x="0" y="0"/>
            <a:chExt cx="4069782" cy="31173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9783" cy="3117349"/>
            </a:xfrm>
            <a:custGeom>
              <a:avLst/>
              <a:gdLst/>
              <a:ahLst/>
              <a:cxnLst/>
              <a:rect r="r" b="b" t="t" l="l"/>
              <a:pathLst>
                <a:path h="3117349" w="4069783">
                  <a:moveTo>
                    <a:pt x="0" y="0"/>
                  </a:moveTo>
                  <a:lnTo>
                    <a:pt x="4069783" y="0"/>
                  </a:lnTo>
                  <a:lnTo>
                    <a:pt x="4069783" y="3117349"/>
                  </a:lnTo>
                  <a:lnTo>
                    <a:pt x="0" y="3117349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069782" cy="316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8627" y="3319928"/>
            <a:ext cx="4216185" cy="366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4"/>
              </a:lnSpc>
              <a:spcBef>
                <a:spcPct val="0"/>
              </a:spcBef>
            </a:pPr>
            <a:r>
              <a:rPr lang="en-US" b="true" sz="21474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2171" y="2746207"/>
            <a:ext cx="10637129" cy="493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9"/>
              </a:lnSpc>
              <a:spcBef>
                <a:spcPct val="0"/>
              </a:spcBef>
            </a:pPr>
            <a:r>
              <a:rPr lang="en-US" sz="14100" b="true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Contexto y motivación</a:t>
            </a:r>
          </a:p>
        </p:txBody>
      </p:sp>
      <p:grpSp>
        <p:nvGrpSpPr>
          <p:cNvPr name="Group 10" id="10"/>
          <p:cNvGrpSpPr/>
          <p:nvPr/>
        </p:nvGrpSpPr>
        <p:grpSpPr>
          <a:xfrm rot="-10800000">
            <a:off x="-2134415" y="3073364"/>
            <a:ext cx="8227978" cy="4140271"/>
            <a:chOff x="0" y="0"/>
            <a:chExt cx="80764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9387" y="2646483"/>
            <a:ext cx="1098480" cy="10984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1698802" y="5514834"/>
            <a:ext cx="3397604" cy="3397604"/>
          </a:xfrm>
          <a:custGeom>
            <a:avLst/>
            <a:gdLst/>
            <a:ahLst/>
            <a:cxnLst/>
            <a:rect r="r" b="b" t="t" l="l"/>
            <a:pathLst>
              <a:path h="3397604" w="3397604">
                <a:moveTo>
                  <a:pt x="0" y="0"/>
                </a:moveTo>
                <a:lnTo>
                  <a:pt x="3397604" y="0"/>
                </a:lnTo>
                <a:lnTo>
                  <a:pt x="3397604" y="3397603"/>
                </a:lnTo>
                <a:lnTo>
                  <a:pt x="0" y="339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160820" y="2461682"/>
            <a:ext cx="5966360" cy="19855818"/>
            <a:chOff x="0" y="0"/>
            <a:chExt cx="1571387" cy="5229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387" cy="5229516"/>
            </a:xfrm>
            <a:custGeom>
              <a:avLst/>
              <a:gdLst/>
              <a:ahLst/>
              <a:cxnLst/>
              <a:rect r="r" b="b" t="t" l="l"/>
              <a:pathLst>
                <a:path h="5229516" w="1571387">
                  <a:moveTo>
                    <a:pt x="0" y="0"/>
                  </a:moveTo>
                  <a:lnTo>
                    <a:pt x="1571387" y="0"/>
                  </a:lnTo>
                  <a:lnTo>
                    <a:pt x="1571387" y="5229516"/>
                  </a:lnTo>
                  <a:lnTo>
                    <a:pt x="0" y="5229516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71387" cy="5277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80527" y="8216864"/>
            <a:ext cx="8227978" cy="4140271"/>
            <a:chOff x="0" y="0"/>
            <a:chExt cx="80764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368250" y="-2004346"/>
            <a:ext cx="4736499" cy="4736499"/>
          </a:xfrm>
          <a:custGeom>
            <a:avLst/>
            <a:gdLst/>
            <a:ahLst/>
            <a:cxnLst/>
            <a:rect r="r" b="b" t="t" l="l"/>
            <a:pathLst>
              <a:path h="4736499" w="4736499">
                <a:moveTo>
                  <a:pt x="0" y="0"/>
                </a:moveTo>
                <a:lnTo>
                  <a:pt x="4736500" y="0"/>
                </a:lnTo>
                <a:lnTo>
                  <a:pt x="4736500" y="4736499"/>
                </a:lnTo>
                <a:lnTo>
                  <a:pt x="0" y="4736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76955" y="904875"/>
            <a:ext cx="10534091" cy="11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0"/>
              </a:lnSpc>
              <a:spcBef>
                <a:spcPct val="0"/>
              </a:spcBef>
            </a:pPr>
            <a:r>
              <a:rPr lang="en-US" sz="6535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Contexto y motivación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97702" y="1957964"/>
            <a:ext cx="10892597" cy="697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¿Por qué este problema?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México genera millones de palabras diarias en noticias</a:t>
            </a:r>
          </a:p>
          <a:p>
            <a:pPr algn="ctr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digitales. Sin herramientas algorítmicas, encontrar</a:t>
            </a:r>
          </a:p>
          <a:p>
            <a:pPr algn="ctr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información relevante en ese volumen es</a:t>
            </a:r>
          </a:p>
          <a:p>
            <a:pPr algn="ctr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computacionalmente costoso.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Por eso hemos decidido crear este analizador de noticias, para automatizar el filtrado de este flujo masivo de información. A través de algoritmos optimizados, nuestro sistema no solo indexa los artículos de forma eficiente, sino que extrae el contexto y las tendencias más relevantes del panorama informativo mexicano en tiempo real.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368250" y="644444"/>
            <a:ext cx="1191142" cy="1193312"/>
          </a:xfrm>
          <a:custGeom>
            <a:avLst/>
            <a:gdLst/>
            <a:ahLst/>
            <a:cxnLst/>
            <a:rect r="r" b="b" t="t" l="l"/>
            <a:pathLst>
              <a:path h="1193312" w="1191142">
                <a:moveTo>
                  <a:pt x="0" y="0"/>
                </a:moveTo>
                <a:lnTo>
                  <a:pt x="1191142" y="0"/>
                </a:lnTo>
                <a:lnTo>
                  <a:pt x="1191142" y="1193312"/>
                </a:lnTo>
                <a:lnTo>
                  <a:pt x="0" y="119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15059525" y="644444"/>
            <a:ext cx="1191142" cy="1193312"/>
          </a:xfrm>
          <a:custGeom>
            <a:avLst/>
            <a:gdLst/>
            <a:ahLst/>
            <a:cxnLst/>
            <a:rect r="r" b="b" t="t" l="l"/>
            <a:pathLst>
              <a:path h="1193312" w="1191142">
                <a:moveTo>
                  <a:pt x="0" y="0"/>
                </a:moveTo>
                <a:lnTo>
                  <a:pt x="1191142" y="0"/>
                </a:lnTo>
                <a:lnTo>
                  <a:pt x="1191142" y="1193312"/>
                </a:lnTo>
                <a:lnTo>
                  <a:pt x="0" y="119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631729" y="7589293"/>
            <a:ext cx="1255142" cy="125514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986999" y="-2149600"/>
            <a:ext cx="6316248" cy="3178300"/>
            <a:chOff x="0" y="0"/>
            <a:chExt cx="80764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-565845"/>
            <a:ext cx="15452455" cy="11836184"/>
            <a:chOff x="0" y="0"/>
            <a:chExt cx="4069782" cy="31173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9783" cy="3117349"/>
            </a:xfrm>
            <a:custGeom>
              <a:avLst/>
              <a:gdLst/>
              <a:ahLst/>
              <a:cxnLst/>
              <a:rect r="r" b="b" t="t" l="l"/>
              <a:pathLst>
                <a:path h="3117349" w="4069783">
                  <a:moveTo>
                    <a:pt x="0" y="0"/>
                  </a:moveTo>
                  <a:lnTo>
                    <a:pt x="4069783" y="0"/>
                  </a:lnTo>
                  <a:lnTo>
                    <a:pt x="4069783" y="3117349"/>
                  </a:lnTo>
                  <a:lnTo>
                    <a:pt x="0" y="3117349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069782" cy="316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887643" y="2537460"/>
            <a:ext cx="10637129" cy="493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9"/>
              </a:lnSpc>
            </a:pPr>
            <a:r>
              <a:rPr lang="en-US" sz="14100" b="true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 Modelado</a:t>
            </a:r>
          </a:p>
          <a:p>
            <a:pPr algn="l">
              <a:lnSpc>
                <a:spcPts val="19739"/>
              </a:lnSpc>
              <a:spcBef>
                <a:spcPct val="0"/>
              </a:spcBef>
            </a:pPr>
            <a:r>
              <a:rPr lang="en-US" sz="14100" b="true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y Diseño</a:t>
            </a: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-1720107" y="3282112"/>
            <a:ext cx="8227978" cy="4140271"/>
            <a:chOff x="0" y="0"/>
            <a:chExt cx="80764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9387" y="2646483"/>
            <a:ext cx="1098480" cy="10984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698802" y="5514834"/>
            <a:ext cx="3397604" cy="3397604"/>
          </a:xfrm>
          <a:custGeom>
            <a:avLst/>
            <a:gdLst/>
            <a:ahLst/>
            <a:cxnLst/>
            <a:rect r="r" b="b" t="t" l="l"/>
            <a:pathLst>
              <a:path h="3397604" w="3397604">
                <a:moveTo>
                  <a:pt x="0" y="0"/>
                </a:moveTo>
                <a:lnTo>
                  <a:pt x="3397604" y="0"/>
                </a:lnTo>
                <a:lnTo>
                  <a:pt x="3397604" y="3397603"/>
                </a:lnTo>
                <a:lnTo>
                  <a:pt x="0" y="339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28627" y="3319928"/>
            <a:ext cx="4216185" cy="366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4"/>
              </a:lnSpc>
              <a:spcBef>
                <a:spcPct val="0"/>
              </a:spcBef>
            </a:pPr>
            <a:r>
              <a:rPr lang="en-US" b="true" sz="21474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682034" y="-2661389"/>
            <a:ext cx="13682253" cy="4140271"/>
            <a:chOff x="0" y="0"/>
            <a:chExt cx="134302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020" cy="406400"/>
            </a:xfrm>
            <a:custGeom>
              <a:avLst/>
              <a:gdLst/>
              <a:ahLst/>
              <a:cxnLst/>
              <a:rect r="r" b="b" t="t" l="l"/>
              <a:pathLst>
                <a:path h="406400" w="1343020">
                  <a:moveTo>
                    <a:pt x="1139820" y="0"/>
                  </a:moveTo>
                  <a:cubicBezTo>
                    <a:pt x="1252045" y="0"/>
                    <a:pt x="1343020" y="90976"/>
                    <a:pt x="1343020" y="203200"/>
                  </a:cubicBezTo>
                  <a:cubicBezTo>
                    <a:pt x="1343020" y="315424"/>
                    <a:pt x="1252045" y="406400"/>
                    <a:pt x="11398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302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506918" y="8424265"/>
            <a:ext cx="4326365" cy="4326365"/>
          </a:xfrm>
          <a:custGeom>
            <a:avLst/>
            <a:gdLst/>
            <a:ahLst/>
            <a:cxnLst/>
            <a:rect r="r" b="b" t="t" l="l"/>
            <a:pathLst>
              <a:path h="4326365" w="4326365">
                <a:moveTo>
                  <a:pt x="0" y="0"/>
                </a:moveTo>
                <a:lnTo>
                  <a:pt x="4326365" y="0"/>
                </a:lnTo>
                <a:lnTo>
                  <a:pt x="4326365" y="4326365"/>
                </a:lnTo>
                <a:lnTo>
                  <a:pt x="0" y="4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3682034" y="443095"/>
            <a:ext cx="1035787" cy="1035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40177" y="2930590"/>
            <a:ext cx="15610440" cy="717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 spc="318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El proyecto se modelo de la siguinte maner para resolver problemas de recuperación de información y analisis de tendencias de tiempo.</a:t>
            </a:r>
          </a:p>
          <a:p>
            <a:pPr algn="l" marL="1035907" indent="-517954" lvl="1">
              <a:lnSpc>
                <a:spcPts val="6717"/>
              </a:lnSpc>
              <a:buFont typeface="Arial"/>
              <a:buChar char="•"/>
            </a:pPr>
            <a:r>
              <a:rPr lang="en-US" sz="4798" spc="283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Articulos (Id, titulo, resumen, fuente y url).</a:t>
            </a:r>
          </a:p>
          <a:p>
            <a:pPr algn="l" marL="1035907" indent="-517954" lvl="1">
              <a:lnSpc>
                <a:spcPts val="6717"/>
              </a:lnSpc>
              <a:buFont typeface="Arial"/>
              <a:buChar char="•"/>
            </a:pPr>
            <a:r>
              <a:rPr lang="en-US" sz="4798" spc="283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Texto como un conjunto de tokens.</a:t>
            </a:r>
          </a:p>
          <a:p>
            <a:pPr algn="l" marL="1035907" indent="-517954" lvl="1">
              <a:lnSpc>
                <a:spcPts val="6717"/>
              </a:lnSpc>
              <a:buFont typeface="Arial"/>
              <a:buChar char="•"/>
            </a:pPr>
            <a:r>
              <a:rPr lang="en-US" sz="4798" spc="283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Relacion palabra-documento (Mapeo uno a muchos). </a:t>
            </a:r>
            <a:r>
              <a:rPr lang="en-US" b="true" sz="4798" spc="283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0177" y="547870"/>
            <a:ext cx="11500038" cy="249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6"/>
              </a:lnSpc>
            </a:pPr>
            <a:r>
              <a:rPr lang="en-US" b="true" sz="8968" spc="-29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MODELADO DEL PROBLEMA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682034" y="-2661389"/>
            <a:ext cx="13682253" cy="4140271"/>
            <a:chOff x="0" y="0"/>
            <a:chExt cx="134302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020" cy="406400"/>
            </a:xfrm>
            <a:custGeom>
              <a:avLst/>
              <a:gdLst/>
              <a:ahLst/>
              <a:cxnLst/>
              <a:rect r="r" b="b" t="t" l="l"/>
              <a:pathLst>
                <a:path h="406400" w="1343020">
                  <a:moveTo>
                    <a:pt x="1139820" y="0"/>
                  </a:moveTo>
                  <a:cubicBezTo>
                    <a:pt x="1252045" y="0"/>
                    <a:pt x="1343020" y="90976"/>
                    <a:pt x="1343020" y="203200"/>
                  </a:cubicBezTo>
                  <a:cubicBezTo>
                    <a:pt x="1343020" y="315424"/>
                    <a:pt x="1252045" y="406400"/>
                    <a:pt x="11398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302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516443" y="8424265"/>
            <a:ext cx="4326365" cy="4326365"/>
          </a:xfrm>
          <a:custGeom>
            <a:avLst/>
            <a:gdLst/>
            <a:ahLst/>
            <a:cxnLst/>
            <a:rect r="r" b="b" t="t" l="l"/>
            <a:pathLst>
              <a:path h="4326365" w="4326365">
                <a:moveTo>
                  <a:pt x="0" y="0"/>
                </a:moveTo>
                <a:lnTo>
                  <a:pt x="4326365" y="0"/>
                </a:lnTo>
                <a:lnTo>
                  <a:pt x="4326365" y="4326365"/>
                </a:lnTo>
                <a:lnTo>
                  <a:pt x="0" y="4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3682034" y="443095"/>
            <a:ext cx="1035787" cy="1035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168263"/>
            <a:ext cx="15610440" cy="793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3379" indent="-441689" lvl="1">
              <a:lnSpc>
                <a:spcPts val="5728"/>
              </a:lnSpc>
              <a:buFont typeface="Arial"/>
              <a:buChar char="•"/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Vertices: Conjuntos de nodos </a:t>
            </a:r>
            <a:r>
              <a:rPr lang="en-US" sz="4091" i="true" spc="241">
                <a:solidFill>
                  <a:srgbClr val="4D4C4C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T</a:t>
            </a: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 y</a:t>
            </a:r>
            <a:r>
              <a:rPr lang="en-US" sz="4091" i="true" spc="241">
                <a:solidFill>
                  <a:srgbClr val="4D4C4C"/>
                </a:solidFill>
                <a:latin typeface="Helios Italics"/>
                <a:ea typeface="Helios Italics"/>
                <a:cs typeface="Helios Italics"/>
                <a:sym typeface="Helios Italics"/>
              </a:rPr>
              <a:t> D</a:t>
            </a: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 donde: </a:t>
            </a:r>
          </a:p>
          <a:p>
            <a:pPr algn="l" marL="1766757" indent="-588919" lvl="2">
              <a:lnSpc>
                <a:spcPts val="5728"/>
              </a:lnSpc>
              <a:buFont typeface="Arial"/>
              <a:buChar char="⚬"/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T = Cada una de las palabras unicas normalizadas y filtradas.</a:t>
            </a:r>
          </a:p>
          <a:p>
            <a:pPr algn="l" marL="1766757" indent="-588919" lvl="2">
              <a:lnSpc>
                <a:spcPts val="5728"/>
              </a:lnSpc>
              <a:buFont typeface="Arial"/>
              <a:buChar char="⚬"/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D = Cada uno de los articulos de noticas reales recueperados. </a:t>
            </a:r>
          </a:p>
          <a:p>
            <a:pPr algn="l" marL="883379" indent="-441689" lvl="1">
              <a:lnSpc>
                <a:spcPts val="5728"/>
              </a:lnSpc>
              <a:buFont typeface="Arial"/>
              <a:buChar char="•"/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Aristas: Solo una arista dirigida de  T → I, si la palabra T aparece en dentro del articulo D. </a:t>
            </a:r>
          </a:p>
          <a:p>
            <a:pPr algn="l">
              <a:lnSpc>
                <a:spcPts val="5728"/>
              </a:lnSpc>
            </a:pPr>
          </a:p>
          <a:p>
            <a:pPr algn="l">
              <a:lnSpc>
                <a:spcPts val="5588"/>
              </a:lnSpc>
            </a:pP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</a:p>
          <a:p>
            <a:pPr algn="l">
              <a:lnSpc>
                <a:spcPts val="572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40177" y="547870"/>
            <a:ext cx="11500038" cy="249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6"/>
              </a:lnSpc>
            </a:pPr>
            <a:r>
              <a:rPr lang="en-US" b="true" sz="8968" spc="-29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MODELADO DEL PROBLEMA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682034" y="-2661389"/>
            <a:ext cx="13682253" cy="4140271"/>
            <a:chOff x="0" y="0"/>
            <a:chExt cx="134302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020" cy="406400"/>
            </a:xfrm>
            <a:custGeom>
              <a:avLst/>
              <a:gdLst/>
              <a:ahLst/>
              <a:cxnLst/>
              <a:rect r="r" b="b" t="t" l="l"/>
              <a:pathLst>
                <a:path h="406400" w="1343020">
                  <a:moveTo>
                    <a:pt x="1139820" y="0"/>
                  </a:moveTo>
                  <a:cubicBezTo>
                    <a:pt x="1252045" y="0"/>
                    <a:pt x="1343020" y="90976"/>
                    <a:pt x="1343020" y="203200"/>
                  </a:cubicBezTo>
                  <a:cubicBezTo>
                    <a:pt x="1343020" y="315424"/>
                    <a:pt x="1252045" y="406400"/>
                    <a:pt x="11398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302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516443" y="8424265"/>
            <a:ext cx="4326365" cy="4326365"/>
          </a:xfrm>
          <a:custGeom>
            <a:avLst/>
            <a:gdLst/>
            <a:ahLst/>
            <a:cxnLst/>
            <a:rect r="r" b="b" t="t" l="l"/>
            <a:pathLst>
              <a:path h="4326365" w="4326365">
                <a:moveTo>
                  <a:pt x="0" y="0"/>
                </a:moveTo>
                <a:lnTo>
                  <a:pt x="4326365" y="0"/>
                </a:lnTo>
                <a:lnTo>
                  <a:pt x="4326365" y="4326365"/>
                </a:lnTo>
                <a:lnTo>
                  <a:pt x="0" y="4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3682034" y="443095"/>
            <a:ext cx="1035787" cy="1035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212508"/>
            <a:ext cx="15610440" cy="793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Tablas Hash (IndiceInvertido): </a:t>
            </a: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Es la columna vertebral del buscador. Implementamos una tabla Hash donde la llave es la plabra normalizada y el valor es un conjunto (set) con los ids de los articulos. Si dos o mas articulos contien la misma palabra se omplimentan un direccionamiento de conjuntos. </a:t>
            </a:r>
          </a:p>
          <a:p>
            <a:pPr algn="l">
              <a:lnSpc>
                <a:spcPts val="5728"/>
              </a:lnSpc>
            </a:pPr>
          </a:p>
          <a:p>
            <a:pPr algn="l">
              <a:lnSpc>
                <a:spcPts val="5728"/>
              </a:lnSpc>
            </a:pPr>
          </a:p>
          <a:p>
            <a:pPr algn="l">
              <a:lnSpc>
                <a:spcPts val="5588"/>
              </a:lnSpc>
            </a:pP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</a:p>
          <a:p>
            <a:pPr algn="l">
              <a:lnSpc>
                <a:spcPts val="572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40177" y="547870"/>
            <a:ext cx="11500038" cy="249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6"/>
              </a:lnSpc>
            </a:pPr>
            <a:r>
              <a:rPr lang="en-US" b="true" sz="8968" spc="-29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ESTRUCTURA DE DATOS UTILIZADA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682034" y="-2661389"/>
            <a:ext cx="13682253" cy="4140271"/>
            <a:chOff x="0" y="0"/>
            <a:chExt cx="134302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020" cy="406400"/>
            </a:xfrm>
            <a:custGeom>
              <a:avLst/>
              <a:gdLst/>
              <a:ahLst/>
              <a:cxnLst/>
              <a:rect r="r" b="b" t="t" l="l"/>
              <a:pathLst>
                <a:path h="406400" w="1343020">
                  <a:moveTo>
                    <a:pt x="1139820" y="0"/>
                  </a:moveTo>
                  <a:cubicBezTo>
                    <a:pt x="1252045" y="0"/>
                    <a:pt x="1343020" y="90976"/>
                    <a:pt x="1343020" y="203200"/>
                  </a:cubicBezTo>
                  <a:cubicBezTo>
                    <a:pt x="1343020" y="315424"/>
                    <a:pt x="1252045" y="406400"/>
                    <a:pt x="11398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302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516443" y="8424265"/>
            <a:ext cx="4326365" cy="4326365"/>
          </a:xfrm>
          <a:custGeom>
            <a:avLst/>
            <a:gdLst/>
            <a:ahLst/>
            <a:cxnLst/>
            <a:rect r="r" b="b" t="t" l="l"/>
            <a:pathLst>
              <a:path h="4326365" w="4326365">
                <a:moveTo>
                  <a:pt x="0" y="0"/>
                </a:moveTo>
                <a:lnTo>
                  <a:pt x="4326365" y="0"/>
                </a:lnTo>
                <a:lnTo>
                  <a:pt x="4326365" y="4326365"/>
                </a:lnTo>
                <a:lnTo>
                  <a:pt x="0" y="4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3682034" y="443095"/>
            <a:ext cx="1035787" cy="1035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212508"/>
            <a:ext cx="15610440" cy="5763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Arbol Trie (Prefijos y Autocompletado):</a:t>
            </a: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Modelamos un  asistente en la barra de busqueda, asi como se modelo las plabras del vocabulario dentro de un trie. </a:t>
            </a:r>
          </a:p>
          <a:p>
            <a:pPr algn="l">
              <a:lnSpc>
                <a:spcPts val="5728"/>
              </a:lnSpc>
            </a:pPr>
          </a:p>
          <a:p>
            <a:pPr algn="l">
              <a:lnSpc>
                <a:spcPts val="5588"/>
              </a:lnSpc>
            </a:pP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</a:p>
          <a:p>
            <a:pPr algn="l">
              <a:lnSpc>
                <a:spcPts val="572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40177" y="547870"/>
            <a:ext cx="11500038" cy="249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6"/>
              </a:lnSpc>
            </a:pPr>
            <a:r>
              <a:rPr lang="en-US" b="true" sz="8968" spc="-29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ESTRUCTURA DE DATOS UTILIZADA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682034" y="-2661389"/>
            <a:ext cx="13682253" cy="4140271"/>
            <a:chOff x="0" y="0"/>
            <a:chExt cx="134302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020" cy="406400"/>
            </a:xfrm>
            <a:custGeom>
              <a:avLst/>
              <a:gdLst/>
              <a:ahLst/>
              <a:cxnLst/>
              <a:rect r="r" b="b" t="t" l="l"/>
              <a:pathLst>
                <a:path h="406400" w="1343020">
                  <a:moveTo>
                    <a:pt x="1139820" y="0"/>
                  </a:moveTo>
                  <a:cubicBezTo>
                    <a:pt x="1252045" y="0"/>
                    <a:pt x="1343020" y="90976"/>
                    <a:pt x="1343020" y="203200"/>
                  </a:cubicBezTo>
                  <a:cubicBezTo>
                    <a:pt x="1343020" y="315424"/>
                    <a:pt x="1252045" y="406400"/>
                    <a:pt x="11398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302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516443" y="8424265"/>
            <a:ext cx="4326365" cy="4326365"/>
          </a:xfrm>
          <a:custGeom>
            <a:avLst/>
            <a:gdLst/>
            <a:ahLst/>
            <a:cxnLst/>
            <a:rect r="r" b="b" t="t" l="l"/>
            <a:pathLst>
              <a:path h="4326365" w="4326365">
                <a:moveTo>
                  <a:pt x="0" y="0"/>
                </a:moveTo>
                <a:lnTo>
                  <a:pt x="4326365" y="0"/>
                </a:lnTo>
                <a:lnTo>
                  <a:pt x="4326365" y="4326365"/>
                </a:lnTo>
                <a:lnTo>
                  <a:pt x="0" y="4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3682034" y="443095"/>
            <a:ext cx="1035787" cy="1035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212508"/>
            <a:ext cx="15610440" cy="361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Min-heap:  </a:t>
            </a: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Para el analisis de frecuencia de palabras se utilizo un min-heap de tamaño acotado de en forma k = 100, la raiz simpre sera la palabra de menor frecuencia. </a:t>
            </a:r>
          </a:p>
          <a:p>
            <a:pPr algn="l">
              <a:lnSpc>
                <a:spcPts val="572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40177" y="547870"/>
            <a:ext cx="11500038" cy="249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6"/>
              </a:lnSpc>
            </a:pPr>
            <a:r>
              <a:rPr lang="en-US" b="true" sz="8968" spc="-29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ESTRUCTURA DE DATOS UTILIZADA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385482" y="-2661389"/>
            <a:ext cx="13682253" cy="4140271"/>
            <a:chOff x="0" y="0"/>
            <a:chExt cx="134302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020" cy="406400"/>
            </a:xfrm>
            <a:custGeom>
              <a:avLst/>
              <a:gdLst/>
              <a:ahLst/>
              <a:cxnLst/>
              <a:rect r="r" b="b" t="t" l="l"/>
              <a:pathLst>
                <a:path h="406400" w="1343020">
                  <a:moveTo>
                    <a:pt x="1139820" y="0"/>
                  </a:moveTo>
                  <a:cubicBezTo>
                    <a:pt x="1252045" y="0"/>
                    <a:pt x="1343020" y="90976"/>
                    <a:pt x="1343020" y="203200"/>
                  </a:cubicBezTo>
                  <a:cubicBezTo>
                    <a:pt x="1343020" y="315424"/>
                    <a:pt x="1252045" y="406400"/>
                    <a:pt x="11398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302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516443" y="8424265"/>
            <a:ext cx="4326365" cy="4326365"/>
          </a:xfrm>
          <a:custGeom>
            <a:avLst/>
            <a:gdLst/>
            <a:ahLst/>
            <a:cxnLst/>
            <a:rect r="r" b="b" t="t" l="l"/>
            <a:pathLst>
              <a:path h="4326365" w="4326365">
                <a:moveTo>
                  <a:pt x="0" y="0"/>
                </a:moveTo>
                <a:lnTo>
                  <a:pt x="4326365" y="0"/>
                </a:lnTo>
                <a:lnTo>
                  <a:pt x="4326365" y="4326365"/>
                </a:lnTo>
                <a:lnTo>
                  <a:pt x="0" y="4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6121247" y="699496"/>
            <a:ext cx="1035787" cy="1035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94070" y="2684529"/>
            <a:ext cx="15610440" cy="50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Tablas Hash: </a:t>
            </a: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Buscar una palabra haciendo un barrido por todo el texto de los articulos da un costo lineal sostenible de O(N x M), Al utilizar las tablas Hash calculamos la funcion Hash de la conuslta e indexamos directamente a la direccion de memoria del conjunto de articulos. </a:t>
            </a: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Complejidad temporal de O(1) en el caso promedio.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070" y="282759"/>
            <a:ext cx="14331743" cy="249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6"/>
              </a:lnSpc>
            </a:pPr>
            <a:r>
              <a:rPr lang="en-US" b="true" sz="8968" spc="-29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JUSTIFICACION Y ANALISIS DE COMPLEJIDAD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385482" y="-2661389"/>
            <a:ext cx="13682253" cy="4140271"/>
            <a:chOff x="0" y="0"/>
            <a:chExt cx="134302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020" cy="406400"/>
            </a:xfrm>
            <a:custGeom>
              <a:avLst/>
              <a:gdLst/>
              <a:ahLst/>
              <a:cxnLst/>
              <a:rect r="r" b="b" t="t" l="l"/>
              <a:pathLst>
                <a:path h="406400" w="1343020">
                  <a:moveTo>
                    <a:pt x="1139820" y="0"/>
                  </a:moveTo>
                  <a:cubicBezTo>
                    <a:pt x="1252045" y="0"/>
                    <a:pt x="1343020" y="90976"/>
                    <a:pt x="1343020" y="203200"/>
                  </a:cubicBezTo>
                  <a:cubicBezTo>
                    <a:pt x="1343020" y="315424"/>
                    <a:pt x="1252045" y="406400"/>
                    <a:pt x="11398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302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516443" y="8424265"/>
            <a:ext cx="4326365" cy="4326365"/>
          </a:xfrm>
          <a:custGeom>
            <a:avLst/>
            <a:gdLst/>
            <a:ahLst/>
            <a:cxnLst/>
            <a:rect r="r" b="b" t="t" l="l"/>
            <a:pathLst>
              <a:path h="4326365" w="4326365">
                <a:moveTo>
                  <a:pt x="0" y="0"/>
                </a:moveTo>
                <a:lnTo>
                  <a:pt x="4326365" y="0"/>
                </a:lnTo>
                <a:lnTo>
                  <a:pt x="4326365" y="4326365"/>
                </a:lnTo>
                <a:lnTo>
                  <a:pt x="0" y="4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6121247" y="699496"/>
            <a:ext cx="1035787" cy="1035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94070" y="2684529"/>
            <a:ext cx="15610440" cy="361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Trie: </a:t>
            </a: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En lugar de revisar todo el diccionario de palabras, el Trie permite acotar unicamente a la longitud del prefijo. </a:t>
            </a:r>
          </a:p>
          <a:p>
            <a:pPr algn="l">
              <a:lnSpc>
                <a:spcPts val="5728"/>
              </a:lnSpc>
            </a:pPr>
            <a:r>
              <a:rPr lang="en-US" sz="4091" spc="241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Complejidad temporal: O(P + S), donde P es la longitud del prefijo y S es el aumento de nodos hijos que se recolentan,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070" y="282759"/>
            <a:ext cx="14331743" cy="249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6"/>
              </a:lnSpc>
            </a:pPr>
            <a:r>
              <a:rPr lang="en-US" b="true" sz="8968" spc="-29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JUSTIFICACION Y ANALISIS DE COMPLEJIDAD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385482" y="-2661389"/>
            <a:ext cx="13682253" cy="4140271"/>
            <a:chOff x="0" y="0"/>
            <a:chExt cx="134302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020" cy="406400"/>
            </a:xfrm>
            <a:custGeom>
              <a:avLst/>
              <a:gdLst/>
              <a:ahLst/>
              <a:cxnLst/>
              <a:rect r="r" b="b" t="t" l="l"/>
              <a:pathLst>
                <a:path h="406400" w="1343020">
                  <a:moveTo>
                    <a:pt x="1139820" y="0"/>
                  </a:moveTo>
                  <a:cubicBezTo>
                    <a:pt x="1252045" y="0"/>
                    <a:pt x="1343020" y="90976"/>
                    <a:pt x="1343020" y="203200"/>
                  </a:cubicBezTo>
                  <a:cubicBezTo>
                    <a:pt x="1343020" y="315424"/>
                    <a:pt x="1252045" y="406400"/>
                    <a:pt x="11398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302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516443" y="8424265"/>
            <a:ext cx="4326365" cy="4326365"/>
          </a:xfrm>
          <a:custGeom>
            <a:avLst/>
            <a:gdLst/>
            <a:ahLst/>
            <a:cxnLst/>
            <a:rect r="r" b="b" t="t" l="l"/>
            <a:pathLst>
              <a:path h="4326365" w="4326365">
                <a:moveTo>
                  <a:pt x="0" y="0"/>
                </a:moveTo>
                <a:lnTo>
                  <a:pt x="4326365" y="0"/>
                </a:lnTo>
                <a:lnTo>
                  <a:pt x="4326365" y="4326365"/>
                </a:lnTo>
                <a:lnTo>
                  <a:pt x="0" y="4326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16121247" y="699496"/>
            <a:ext cx="1035787" cy="1035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2657262"/>
            <a:ext cx="15610440" cy="660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8"/>
              </a:lnSpc>
            </a:pPr>
            <a:r>
              <a:rPr lang="en-US" sz="3791" spc="223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Min-Heap: </a:t>
            </a:r>
          </a:p>
          <a:p>
            <a:pPr algn="l">
              <a:lnSpc>
                <a:spcPts val="5308"/>
              </a:lnSpc>
            </a:pPr>
            <a:r>
              <a:rPr lang="en-US" sz="3791" spc="223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Para extraer las 100 palabras mas frecuentes, un enfoque ingenuo meteria las N palabras en una lista y las ordena por completo dando una complejidad temporal de O(N log N), nosotros lo hemos optimizado este algoritmo limitando a 10 los elementos del Min-Heap. </a:t>
            </a:r>
          </a:p>
          <a:p>
            <a:pPr algn="l">
              <a:lnSpc>
                <a:spcPts val="5308"/>
              </a:lnSpc>
            </a:pPr>
            <a:r>
              <a:rPr lang="en-US" sz="3791" spc="223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Complejidad temporal: </a:t>
            </a:r>
          </a:p>
          <a:p>
            <a:pPr algn="l">
              <a:lnSpc>
                <a:spcPts val="5168"/>
              </a:lnSpc>
            </a:pPr>
            <a:r>
              <a:rPr lang="en-US" sz="3691" spc="217">
                <a:solidFill>
                  <a:srgbClr val="4D4C4C"/>
                </a:solidFill>
                <a:latin typeface="Helios"/>
                <a:ea typeface="Helios"/>
                <a:cs typeface="Helios"/>
                <a:sym typeface="Helios"/>
              </a:rPr>
              <a:t>O(N log k) donde N es el número total de palabras unicas y K = 100, pero al K ser una constante fija y muy pequeña la complejidad se comporta de una manera O (N) lineal.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070" y="282759"/>
            <a:ext cx="14331743" cy="249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6"/>
              </a:lnSpc>
            </a:pPr>
            <a:r>
              <a:rPr lang="en-US" b="true" sz="8968" spc="-295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JUSTIFICACION Y ANALISIS DE COMPLEJIDAD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986999" y="-2149600"/>
            <a:ext cx="6316248" cy="3178300"/>
            <a:chOff x="0" y="0"/>
            <a:chExt cx="80764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-565845"/>
            <a:ext cx="15452455" cy="11836184"/>
            <a:chOff x="0" y="0"/>
            <a:chExt cx="4069782" cy="31173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9783" cy="3117349"/>
            </a:xfrm>
            <a:custGeom>
              <a:avLst/>
              <a:gdLst/>
              <a:ahLst/>
              <a:cxnLst/>
              <a:rect r="r" b="b" t="t" l="l"/>
              <a:pathLst>
                <a:path h="3117349" w="4069783">
                  <a:moveTo>
                    <a:pt x="0" y="0"/>
                  </a:moveTo>
                  <a:lnTo>
                    <a:pt x="4069783" y="0"/>
                  </a:lnTo>
                  <a:lnTo>
                    <a:pt x="4069783" y="3117349"/>
                  </a:lnTo>
                  <a:lnTo>
                    <a:pt x="0" y="3117349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069782" cy="316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839712" y="3245509"/>
            <a:ext cx="10918664" cy="400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74"/>
              </a:lnSpc>
              <a:spcBef>
                <a:spcPct val="0"/>
              </a:spcBef>
            </a:pPr>
            <a:r>
              <a:rPr lang="en-US" sz="11481" b="true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 Resultados experimentales</a:t>
            </a: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-1720107" y="3282112"/>
            <a:ext cx="8227978" cy="4140271"/>
            <a:chOff x="0" y="0"/>
            <a:chExt cx="80764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9387" y="2646483"/>
            <a:ext cx="1098480" cy="10984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698802" y="5514834"/>
            <a:ext cx="3397604" cy="3397604"/>
          </a:xfrm>
          <a:custGeom>
            <a:avLst/>
            <a:gdLst/>
            <a:ahLst/>
            <a:cxnLst/>
            <a:rect r="r" b="b" t="t" l="l"/>
            <a:pathLst>
              <a:path h="3397604" w="3397604">
                <a:moveTo>
                  <a:pt x="0" y="0"/>
                </a:moveTo>
                <a:lnTo>
                  <a:pt x="3397604" y="0"/>
                </a:lnTo>
                <a:lnTo>
                  <a:pt x="3397604" y="3397603"/>
                </a:lnTo>
                <a:lnTo>
                  <a:pt x="0" y="339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28627" y="3319928"/>
            <a:ext cx="4216185" cy="366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4"/>
              </a:lnSpc>
              <a:spcBef>
                <a:spcPct val="0"/>
              </a:spcBef>
            </a:pPr>
            <a:r>
              <a:rPr lang="en-US" b="true" sz="21474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160820" y="-12167794"/>
            <a:ext cx="5966360" cy="19855818"/>
            <a:chOff x="0" y="0"/>
            <a:chExt cx="1571387" cy="5229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387" cy="5229516"/>
            </a:xfrm>
            <a:custGeom>
              <a:avLst/>
              <a:gdLst/>
              <a:ahLst/>
              <a:cxnLst/>
              <a:rect r="r" b="b" t="t" l="l"/>
              <a:pathLst>
                <a:path h="5229516" w="1571387">
                  <a:moveTo>
                    <a:pt x="0" y="0"/>
                  </a:moveTo>
                  <a:lnTo>
                    <a:pt x="1571387" y="0"/>
                  </a:lnTo>
                  <a:lnTo>
                    <a:pt x="1571387" y="5229516"/>
                  </a:lnTo>
                  <a:lnTo>
                    <a:pt x="0" y="5229516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71387" cy="5277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3627384" y="-2382359"/>
            <a:ext cx="8227978" cy="4140271"/>
            <a:chOff x="0" y="0"/>
            <a:chExt cx="80764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368250" y="8057418"/>
            <a:ext cx="4736499" cy="4736499"/>
          </a:xfrm>
          <a:custGeom>
            <a:avLst/>
            <a:gdLst/>
            <a:ahLst/>
            <a:cxnLst/>
            <a:rect r="r" b="b" t="t" l="l"/>
            <a:pathLst>
              <a:path h="4736499" w="4736499">
                <a:moveTo>
                  <a:pt x="0" y="0"/>
                </a:moveTo>
                <a:lnTo>
                  <a:pt x="4736500" y="0"/>
                </a:lnTo>
                <a:lnTo>
                  <a:pt x="4736500" y="4736500"/>
                </a:lnTo>
                <a:lnTo>
                  <a:pt x="0" y="473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15936505" y="1188018"/>
            <a:ext cx="1139788" cy="11397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2493248"/>
            <a:ext cx="18288000" cy="7932420"/>
          </a:xfrm>
          <a:custGeom>
            <a:avLst/>
            <a:gdLst/>
            <a:ahLst/>
            <a:cxnLst/>
            <a:rect r="r" b="b" t="t" l="l"/>
            <a:pathLst>
              <a:path h="7932420" w="18288000">
                <a:moveTo>
                  <a:pt x="0" y="0"/>
                </a:moveTo>
                <a:lnTo>
                  <a:pt x="18288000" y="0"/>
                </a:lnTo>
                <a:lnTo>
                  <a:pt x="18288000" y="7932420"/>
                </a:lnTo>
                <a:lnTo>
                  <a:pt x="0" y="7932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3273256" y="654797"/>
            <a:ext cx="12978113" cy="183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52"/>
              </a:lnSpc>
              <a:spcBef>
                <a:spcPct val="0"/>
              </a:spcBef>
            </a:pPr>
            <a:r>
              <a:rPr lang="en-US" sz="10752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Gráfica 1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160820" y="-12167794"/>
            <a:ext cx="5966360" cy="19855818"/>
            <a:chOff x="0" y="0"/>
            <a:chExt cx="1571387" cy="5229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1387" cy="5229516"/>
            </a:xfrm>
            <a:custGeom>
              <a:avLst/>
              <a:gdLst/>
              <a:ahLst/>
              <a:cxnLst/>
              <a:rect r="r" b="b" t="t" l="l"/>
              <a:pathLst>
                <a:path h="5229516" w="1571387">
                  <a:moveTo>
                    <a:pt x="0" y="0"/>
                  </a:moveTo>
                  <a:lnTo>
                    <a:pt x="1571387" y="0"/>
                  </a:lnTo>
                  <a:lnTo>
                    <a:pt x="1571387" y="5229516"/>
                  </a:lnTo>
                  <a:lnTo>
                    <a:pt x="0" y="5229516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71387" cy="5277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3627384" y="-2382359"/>
            <a:ext cx="8227978" cy="4140271"/>
            <a:chOff x="0" y="0"/>
            <a:chExt cx="80764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368250" y="8057418"/>
            <a:ext cx="4736499" cy="4736499"/>
          </a:xfrm>
          <a:custGeom>
            <a:avLst/>
            <a:gdLst/>
            <a:ahLst/>
            <a:cxnLst/>
            <a:rect r="r" b="b" t="t" l="l"/>
            <a:pathLst>
              <a:path h="4736499" w="4736499">
                <a:moveTo>
                  <a:pt x="0" y="0"/>
                </a:moveTo>
                <a:lnTo>
                  <a:pt x="4736500" y="0"/>
                </a:lnTo>
                <a:lnTo>
                  <a:pt x="4736500" y="4736500"/>
                </a:lnTo>
                <a:lnTo>
                  <a:pt x="0" y="473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15936505" y="1188018"/>
            <a:ext cx="1139788" cy="11397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518199" y="2381721"/>
            <a:ext cx="13251603" cy="7443958"/>
          </a:xfrm>
          <a:custGeom>
            <a:avLst/>
            <a:gdLst/>
            <a:ahLst/>
            <a:cxnLst/>
            <a:rect r="r" b="b" t="t" l="l"/>
            <a:pathLst>
              <a:path h="7443958" w="13251603">
                <a:moveTo>
                  <a:pt x="0" y="0"/>
                </a:moveTo>
                <a:lnTo>
                  <a:pt x="13251602" y="0"/>
                </a:lnTo>
                <a:lnTo>
                  <a:pt x="13251602" y="7443958"/>
                </a:lnTo>
                <a:lnTo>
                  <a:pt x="0" y="7443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83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-2873989" y="489355"/>
            <a:ext cx="12978113" cy="183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52"/>
              </a:lnSpc>
              <a:spcBef>
                <a:spcPct val="0"/>
              </a:spcBef>
            </a:pPr>
            <a:r>
              <a:rPr lang="en-US" sz="10752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Gráfica 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986999" y="-2149600"/>
            <a:ext cx="6316248" cy="3178300"/>
            <a:chOff x="0" y="0"/>
            <a:chExt cx="80764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-565845"/>
            <a:ext cx="15452455" cy="11836184"/>
            <a:chOff x="0" y="0"/>
            <a:chExt cx="4069782" cy="31173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9783" cy="3117349"/>
            </a:xfrm>
            <a:custGeom>
              <a:avLst/>
              <a:gdLst/>
              <a:ahLst/>
              <a:cxnLst/>
              <a:rect r="r" b="b" t="t" l="l"/>
              <a:pathLst>
                <a:path h="3117349" w="4069783">
                  <a:moveTo>
                    <a:pt x="0" y="0"/>
                  </a:moveTo>
                  <a:lnTo>
                    <a:pt x="4069783" y="0"/>
                  </a:lnTo>
                  <a:lnTo>
                    <a:pt x="4069783" y="3117349"/>
                  </a:lnTo>
                  <a:lnTo>
                    <a:pt x="0" y="3117349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069782" cy="316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22171" y="3005887"/>
            <a:ext cx="10637129" cy="493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39"/>
              </a:lnSpc>
              <a:spcBef>
                <a:spcPct val="0"/>
              </a:spcBef>
            </a:pPr>
            <a:r>
              <a:rPr lang="en-US" sz="14100" b="true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 Reflexión Ética</a:t>
            </a: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-1720107" y="3282112"/>
            <a:ext cx="8227978" cy="4140271"/>
            <a:chOff x="0" y="0"/>
            <a:chExt cx="80764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9387" y="2646483"/>
            <a:ext cx="1098480" cy="10984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698802" y="5514834"/>
            <a:ext cx="3397604" cy="3397604"/>
          </a:xfrm>
          <a:custGeom>
            <a:avLst/>
            <a:gdLst/>
            <a:ahLst/>
            <a:cxnLst/>
            <a:rect r="r" b="b" t="t" l="l"/>
            <a:pathLst>
              <a:path h="3397604" w="3397604">
                <a:moveTo>
                  <a:pt x="0" y="0"/>
                </a:moveTo>
                <a:lnTo>
                  <a:pt x="3397604" y="0"/>
                </a:lnTo>
                <a:lnTo>
                  <a:pt x="3397604" y="3397603"/>
                </a:lnTo>
                <a:lnTo>
                  <a:pt x="0" y="339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28627" y="3319928"/>
            <a:ext cx="4216185" cy="366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4"/>
              </a:lnSpc>
              <a:spcBef>
                <a:spcPct val="0"/>
              </a:spcBef>
            </a:pPr>
            <a:r>
              <a:rPr lang="en-US" b="true" sz="21474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04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3030895" y="-1481768"/>
            <a:ext cx="8678012" cy="2963535"/>
            <a:chOff x="0" y="0"/>
            <a:chExt cx="1070213" cy="3654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0213" cy="365477"/>
            </a:xfrm>
            <a:custGeom>
              <a:avLst/>
              <a:gdLst/>
              <a:ahLst/>
              <a:cxnLst/>
              <a:rect r="r" b="b" t="t" l="l"/>
              <a:pathLst>
                <a:path h="365477" w="1070213">
                  <a:moveTo>
                    <a:pt x="867013" y="0"/>
                  </a:moveTo>
                  <a:cubicBezTo>
                    <a:pt x="979237" y="0"/>
                    <a:pt x="1070213" y="81815"/>
                    <a:pt x="1070213" y="182739"/>
                  </a:cubicBezTo>
                  <a:cubicBezTo>
                    <a:pt x="1070213" y="283662"/>
                    <a:pt x="979237" y="365477"/>
                    <a:pt x="867013" y="365477"/>
                  </a:cubicBezTo>
                  <a:lnTo>
                    <a:pt x="203200" y="365477"/>
                  </a:lnTo>
                  <a:cubicBezTo>
                    <a:pt x="90976" y="365477"/>
                    <a:pt x="0" y="283662"/>
                    <a:pt x="0" y="182739"/>
                  </a:cubicBezTo>
                  <a:cubicBezTo>
                    <a:pt x="0" y="81815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070213" cy="413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303218" y="1782681"/>
            <a:ext cx="5681563" cy="21193096"/>
            <a:chOff x="0" y="0"/>
            <a:chExt cx="1496379" cy="55817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6379" cy="5581721"/>
            </a:xfrm>
            <a:custGeom>
              <a:avLst/>
              <a:gdLst/>
              <a:ahLst/>
              <a:cxnLst/>
              <a:rect r="r" b="b" t="t" l="l"/>
              <a:pathLst>
                <a:path h="5581721" w="1496379">
                  <a:moveTo>
                    <a:pt x="0" y="0"/>
                  </a:moveTo>
                  <a:lnTo>
                    <a:pt x="1496379" y="0"/>
                  </a:lnTo>
                  <a:lnTo>
                    <a:pt x="1496379" y="5581721"/>
                  </a:lnTo>
                  <a:lnTo>
                    <a:pt x="0" y="5581721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6379" cy="5629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04705" y="8814719"/>
            <a:ext cx="8227978" cy="4140271"/>
            <a:chOff x="0" y="0"/>
            <a:chExt cx="80764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258149" y="3248311"/>
            <a:ext cx="3790378" cy="3790378"/>
          </a:xfrm>
          <a:custGeom>
            <a:avLst/>
            <a:gdLst/>
            <a:ahLst/>
            <a:cxnLst/>
            <a:rect r="r" b="b" t="t" l="l"/>
            <a:pathLst>
              <a:path h="3790378" w="3790378">
                <a:moveTo>
                  <a:pt x="0" y="0"/>
                </a:moveTo>
                <a:lnTo>
                  <a:pt x="3790377" y="0"/>
                </a:lnTo>
                <a:lnTo>
                  <a:pt x="3790377" y="3790378"/>
                </a:lnTo>
                <a:lnTo>
                  <a:pt x="0" y="379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779555" y="-1481768"/>
            <a:ext cx="2959490" cy="4423151"/>
          </a:xfrm>
          <a:custGeom>
            <a:avLst/>
            <a:gdLst/>
            <a:ahLst/>
            <a:cxnLst/>
            <a:rect r="r" b="b" t="t" l="l"/>
            <a:pathLst>
              <a:path h="4423151" w="2959490">
                <a:moveTo>
                  <a:pt x="2959490" y="0"/>
                </a:moveTo>
                <a:lnTo>
                  <a:pt x="0" y="0"/>
                </a:lnTo>
                <a:lnTo>
                  <a:pt x="0" y="4423151"/>
                </a:lnTo>
                <a:lnTo>
                  <a:pt x="2959490" y="4423151"/>
                </a:lnTo>
                <a:lnTo>
                  <a:pt x="29594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54943" y="462530"/>
            <a:ext cx="12978113" cy="183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52"/>
              </a:lnSpc>
              <a:spcBef>
                <a:spcPct val="0"/>
              </a:spcBef>
            </a:pPr>
            <a:r>
              <a:rPr lang="en-US" sz="10752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Reflexión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0124" y="2306955"/>
            <a:ext cx="15027751" cy="2686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1. Sesgo de Selección y Falsa Representatividad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 spc="141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Las fuentes utilizadas son limitadas y no representan la totalidad del ecosistema informativo. Afirmar que el algoritmo abarca toda la situación política, cultural y social de México sería una falacia. Esta omisión invisibiliza problemas de otros sectores demográficos, creando una burbuja algorítmica.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980490" y="932528"/>
            <a:ext cx="1098480" cy="10984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30124" y="5466453"/>
            <a:ext cx="15027751" cy="353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2. Sesgo Lingüístico por Normalización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 spc="141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Al normalizar el texto se despoja al lenguaje de su contexto cultural y semántico. Asumir que un "token" normalizado conserva la intención original del autor es un error; por ejemplo, colapsar matemáticamente términos como "pérdida" y "perdida" altera gravemente el mensaje. Además, la aplicación de filtros lingüísticos estandarizados tiende a clasificar modismos locales, jerga popular o términos de lenguas indígenas como "ruido algorítmico", penalizando y excluyendo la diversidad lingüística real del país.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3986999" y="-2149600"/>
            <a:ext cx="6316248" cy="3178300"/>
            <a:chOff x="0" y="0"/>
            <a:chExt cx="807640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-565845"/>
            <a:ext cx="15452455" cy="11836184"/>
            <a:chOff x="0" y="0"/>
            <a:chExt cx="4069782" cy="31173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9783" cy="3117349"/>
            </a:xfrm>
            <a:custGeom>
              <a:avLst/>
              <a:gdLst/>
              <a:ahLst/>
              <a:cxnLst/>
              <a:rect r="r" b="b" t="t" l="l"/>
              <a:pathLst>
                <a:path h="3117349" w="4069783">
                  <a:moveTo>
                    <a:pt x="0" y="0"/>
                  </a:moveTo>
                  <a:lnTo>
                    <a:pt x="4069783" y="0"/>
                  </a:lnTo>
                  <a:lnTo>
                    <a:pt x="4069783" y="3117349"/>
                  </a:lnTo>
                  <a:lnTo>
                    <a:pt x="0" y="3117349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069782" cy="3164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22171" y="3943541"/>
            <a:ext cx="10522952" cy="120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6"/>
              </a:lnSpc>
              <a:spcBef>
                <a:spcPct val="0"/>
              </a:spcBef>
            </a:pPr>
            <a:r>
              <a:rPr lang="en-US" sz="7125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Investigación: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2171" y="5047947"/>
            <a:ext cx="10892717" cy="410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12"/>
              </a:lnSpc>
              <a:spcBef>
                <a:spcPct val="0"/>
              </a:spcBef>
            </a:pPr>
            <a:r>
              <a:rPr lang="en-US" sz="11723" b="true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Conclusiones y trabajo futuro</a:t>
            </a:r>
          </a:p>
        </p:txBody>
      </p:sp>
      <p:grpSp>
        <p:nvGrpSpPr>
          <p:cNvPr name="Group 10" id="10"/>
          <p:cNvGrpSpPr/>
          <p:nvPr/>
        </p:nvGrpSpPr>
        <p:grpSpPr>
          <a:xfrm rot="-10800000">
            <a:off x="-1720107" y="3282112"/>
            <a:ext cx="8227978" cy="4140271"/>
            <a:chOff x="0" y="0"/>
            <a:chExt cx="80764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9387" y="2646483"/>
            <a:ext cx="1098480" cy="10984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-1698802" y="5514834"/>
            <a:ext cx="3397604" cy="3397604"/>
          </a:xfrm>
          <a:custGeom>
            <a:avLst/>
            <a:gdLst/>
            <a:ahLst/>
            <a:cxnLst/>
            <a:rect r="r" b="b" t="t" l="l"/>
            <a:pathLst>
              <a:path h="3397604" w="3397604">
                <a:moveTo>
                  <a:pt x="0" y="0"/>
                </a:moveTo>
                <a:lnTo>
                  <a:pt x="3397604" y="0"/>
                </a:lnTo>
                <a:lnTo>
                  <a:pt x="3397604" y="3397603"/>
                </a:lnTo>
                <a:lnTo>
                  <a:pt x="0" y="339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28627" y="3319928"/>
            <a:ext cx="4216185" cy="366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4"/>
              </a:lnSpc>
              <a:spcBef>
                <a:spcPct val="0"/>
              </a:spcBef>
            </a:pPr>
            <a:r>
              <a:rPr lang="en-US" b="true" sz="21474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05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3030895" y="-1481768"/>
            <a:ext cx="8678012" cy="2963535"/>
            <a:chOff x="0" y="0"/>
            <a:chExt cx="1070213" cy="3654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0213" cy="365477"/>
            </a:xfrm>
            <a:custGeom>
              <a:avLst/>
              <a:gdLst/>
              <a:ahLst/>
              <a:cxnLst/>
              <a:rect r="r" b="b" t="t" l="l"/>
              <a:pathLst>
                <a:path h="365477" w="1070213">
                  <a:moveTo>
                    <a:pt x="867013" y="0"/>
                  </a:moveTo>
                  <a:cubicBezTo>
                    <a:pt x="979237" y="0"/>
                    <a:pt x="1070213" y="81815"/>
                    <a:pt x="1070213" y="182739"/>
                  </a:cubicBezTo>
                  <a:cubicBezTo>
                    <a:pt x="1070213" y="283662"/>
                    <a:pt x="979237" y="365477"/>
                    <a:pt x="867013" y="365477"/>
                  </a:cubicBezTo>
                  <a:lnTo>
                    <a:pt x="203200" y="365477"/>
                  </a:lnTo>
                  <a:cubicBezTo>
                    <a:pt x="90976" y="365477"/>
                    <a:pt x="0" y="283662"/>
                    <a:pt x="0" y="182739"/>
                  </a:cubicBezTo>
                  <a:cubicBezTo>
                    <a:pt x="0" y="81815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070213" cy="413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9368834" y="2718316"/>
            <a:ext cx="7698996" cy="5941267"/>
            <a:chOff x="0" y="0"/>
            <a:chExt cx="2027719" cy="15647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27719" cy="1564778"/>
            </a:xfrm>
            <a:custGeom>
              <a:avLst/>
              <a:gdLst/>
              <a:ahLst/>
              <a:cxnLst/>
              <a:rect r="r" b="b" t="t" l="l"/>
              <a:pathLst>
                <a:path h="1564778" w="2027719">
                  <a:moveTo>
                    <a:pt x="0" y="0"/>
                  </a:moveTo>
                  <a:lnTo>
                    <a:pt x="2027719" y="0"/>
                  </a:lnTo>
                  <a:lnTo>
                    <a:pt x="2027719" y="1564778"/>
                  </a:lnTo>
                  <a:lnTo>
                    <a:pt x="0" y="1564778"/>
                  </a:lnTo>
                  <a:close/>
                </a:path>
              </a:pathLst>
            </a:custGeom>
            <a:solidFill>
              <a:srgbClr val="CAD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27719" cy="1612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6303218" y="1782681"/>
            <a:ext cx="5681563" cy="21193096"/>
            <a:chOff x="0" y="0"/>
            <a:chExt cx="1496379" cy="55817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6379" cy="5581721"/>
            </a:xfrm>
            <a:custGeom>
              <a:avLst/>
              <a:gdLst/>
              <a:ahLst/>
              <a:cxnLst/>
              <a:rect r="r" b="b" t="t" l="l"/>
              <a:pathLst>
                <a:path h="5581721" w="1496379">
                  <a:moveTo>
                    <a:pt x="0" y="0"/>
                  </a:moveTo>
                  <a:lnTo>
                    <a:pt x="1496379" y="0"/>
                  </a:lnTo>
                  <a:lnTo>
                    <a:pt x="1496379" y="5581721"/>
                  </a:lnTo>
                  <a:lnTo>
                    <a:pt x="0" y="5581721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96379" cy="5629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04705" y="8814719"/>
            <a:ext cx="8227978" cy="4140271"/>
            <a:chOff x="0" y="0"/>
            <a:chExt cx="80764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2258149" y="3248311"/>
            <a:ext cx="3790378" cy="3790378"/>
          </a:xfrm>
          <a:custGeom>
            <a:avLst/>
            <a:gdLst/>
            <a:ahLst/>
            <a:cxnLst/>
            <a:rect r="r" b="b" t="t" l="l"/>
            <a:pathLst>
              <a:path h="3790378" w="3790378">
                <a:moveTo>
                  <a:pt x="0" y="0"/>
                </a:moveTo>
                <a:lnTo>
                  <a:pt x="3790377" y="0"/>
                </a:lnTo>
                <a:lnTo>
                  <a:pt x="3790377" y="3790378"/>
                </a:lnTo>
                <a:lnTo>
                  <a:pt x="0" y="379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345280" y="-3394451"/>
            <a:ext cx="2959490" cy="4423151"/>
          </a:xfrm>
          <a:custGeom>
            <a:avLst/>
            <a:gdLst/>
            <a:ahLst/>
            <a:cxnLst/>
            <a:rect r="r" b="b" t="t" l="l"/>
            <a:pathLst>
              <a:path h="4423151" w="2959490">
                <a:moveTo>
                  <a:pt x="2959490" y="0"/>
                </a:moveTo>
                <a:lnTo>
                  <a:pt x="0" y="0"/>
                </a:lnTo>
                <a:lnTo>
                  <a:pt x="0" y="4423151"/>
                </a:lnTo>
                <a:lnTo>
                  <a:pt x="2959490" y="4423151"/>
                </a:lnTo>
                <a:lnTo>
                  <a:pt x="29594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5400000">
            <a:off x="837259" y="2718316"/>
            <a:ext cx="7698996" cy="5941267"/>
            <a:chOff x="0" y="0"/>
            <a:chExt cx="2027719" cy="15647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27719" cy="1564778"/>
            </a:xfrm>
            <a:custGeom>
              <a:avLst/>
              <a:gdLst/>
              <a:ahLst/>
              <a:cxnLst/>
              <a:rect r="r" b="b" t="t" l="l"/>
              <a:pathLst>
                <a:path h="1564778" w="2027719">
                  <a:moveTo>
                    <a:pt x="0" y="0"/>
                  </a:moveTo>
                  <a:lnTo>
                    <a:pt x="2027719" y="0"/>
                  </a:lnTo>
                  <a:lnTo>
                    <a:pt x="2027719" y="1564778"/>
                  </a:lnTo>
                  <a:lnTo>
                    <a:pt x="0" y="1564778"/>
                  </a:lnTo>
                  <a:close/>
                </a:path>
              </a:pathLst>
            </a:custGeom>
            <a:solidFill>
              <a:srgbClr val="CAD6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27719" cy="1612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80490" y="932528"/>
            <a:ext cx="1098480" cy="109848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091384" y="2056609"/>
            <a:ext cx="6253896" cy="88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3"/>
              </a:lnSpc>
              <a:spcBef>
                <a:spcPct val="0"/>
              </a:spcBef>
            </a:pPr>
            <a:r>
              <a:rPr lang="en-US" sz="5181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Trabajo a futuro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6395" y="2164931"/>
            <a:ext cx="7600724" cy="108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5"/>
              </a:lnSpc>
              <a:spcBef>
                <a:spcPct val="0"/>
              </a:spcBef>
            </a:pPr>
            <a:r>
              <a:rPr lang="en-US" sz="6297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Conclusiones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31531" y="3200686"/>
            <a:ext cx="5510452" cy="78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Se demostró empíricamente la superioridad del Índice Invertido O(1)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31531" y="4363085"/>
            <a:ext cx="5510452" cy="235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La impl</a:t>
            </a: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ementación del Min-Heap (k=100) validó que el filtrado en tiempo real O(n log k) es significativamente más eficiente que el ordenamiento completo O(n log n) para extraer tendencias.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31531" y="7101840"/>
            <a:ext cx="5510452" cy="235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El Árbol Tri</a:t>
            </a: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e demostró ser la estructura óptima para autocompletado, aislando el costo computacional a la longitud del prefijo O(m) y no al tamaño del vocabulario.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63106" y="3054256"/>
            <a:ext cx="5510452" cy="235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C</a:t>
            </a: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onstruir un recolector dinámico (Scraper/API) que integre medios regionales e independientes, aplicando ponderación estadística para balancear la representatividad del corpus.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3106" y="5946775"/>
            <a:ext cx="5510452" cy="196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Re</a:t>
            </a:r>
            <a:r>
              <a:rPr lang="en-US" b="true" sz="2199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emplazar la normalización destructiva por un pipeline de Lematización sensible al contexto, preservando caracteres críticos y modismos locales.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4701967" y="-2031007"/>
            <a:ext cx="8678012" cy="2963535"/>
            <a:chOff x="0" y="0"/>
            <a:chExt cx="1070213" cy="3654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0213" cy="365477"/>
            </a:xfrm>
            <a:custGeom>
              <a:avLst/>
              <a:gdLst/>
              <a:ahLst/>
              <a:cxnLst/>
              <a:rect r="r" b="b" t="t" l="l"/>
              <a:pathLst>
                <a:path h="365477" w="1070213">
                  <a:moveTo>
                    <a:pt x="867013" y="0"/>
                  </a:moveTo>
                  <a:cubicBezTo>
                    <a:pt x="979237" y="0"/>
                    <a:pt x="1070213" y="81815"/>
                    <a:pt x="1070213" y="182739"/>
                  </a:cubicBezTo>
                  <a:cubicBezTo>
                    <a:pt x="1070213" y="283662"/>
                    <a:pt x="979237" y="365477"/>
                    <a:pt x="867013" y="365477"/>
                  </a:cubicBezTo>
                  <a:lnTo>
                    <a:pt x="203200" y="365477"/>
                  </a:lnTo>
                  <a:cubicBezTo>
                    <a:pt x="90976" y="365477"/>
                    <a:pt x="0" y="283662"/>
                    <a:pt x="0" y="182739"/>
                  </a:cubicBezTo>
                  <a:cubicBezTo>
                    <a:pt x="0" y="81815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070213" cy="413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303218" y="1782681"/>
            <a:ext cx="5681563" cy="21193096"/>
            <a:chOff x="0" y="0"/>
            <a:chExt cx="1496379" cy="55817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96379" cy="5581721"/>
            </a:xfrm>
            <a:custGeom>
              <a:avLst/>
              <a:gdLst/>
              <a:ahLst/>
              <a:cxnLst/>
              <a:rect r="r" b="b" t="t" l="l"/>
              <a:pathLst>
                <a:path h="5581721" w="1496379">
                  <a:moveTo>
                    <a:pt x="0" y="0"/>
                  </a:moveTo>
                  <a:lnTo>
                    <a:pt x="1496379" y="0"/>
                  </a:lnTo>
                  <a:lnTo>
                    <a:pt x="1496379" y="5581721"/>
                  </a:lnTo>
                  <a:lnTo>
                    <a:pt x="0" y="5581721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96379" cy="5629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04705" y="8814719"/>
            <a:ext cx="8227978" cy="4140271"/>
            <a:chOff x="0" y="0"/>
            <a:chExt cx="80764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258149" y="3248311"/>
            <a:ext cx="3790378" cy="3790378"/>
          </a:xfrm>
          <a:custGeom>
            <a:avLst/>
            <a:gdLst/>
            <a:ahLst/>
            <a:cxnLst/>
            <a:rect r="r" b="b" t="t" l="l"/>
            <a:pathLst>
              <a:path h="3790378" w="3790378">
                <a:moveTo>
                  <a:pt x="0" y="0"/>
                </a:moveTo>
                <a:lnTo>
                  <a:pt x="3790377" y="0"/>
                </a:lnTo>
                <a:lnTo>
                  <a:pt x="3790377" y="3790378"/>
                </a:lnTo>
                <a:lnTo>
                  <a:pt x="0" y="379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633057" y="-3394451"/>
            <a:ext cx="2959490" cy="4423151"/>
          </a:xfrm>
          <a:custGeom>
            <a:avLst/>
            <a:gdLst/>
            <a:ahLst/>
            <a:cxnLst/>
            <a:rect r="r" b="b" t="t" l="l"/>
            <a:pathLst>
              <a:path h="4423151" w="2959490">
                <a:moveTo>
                  <a:pt x="2959490" y="0"/>
                </a:moveTo>
                <a:lnTo>
                  <a:pt x="0" y="0"/>
                </a:lnTo>
                <a:lnTo>
                  <a:pt x="0" y="4423151"/>
                </a:lnTo>
                <a:lnTo>
                  <a:pt x="2959490" y="4423151"/>
                </a:lnTo>
                <a:lnTo>
                  <a:pt x="29594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54943" y="462530"/>
            <a:ext cx="12978113" cy="183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52"/>
              </a:lnSpc>
              <a:spcBef>
                <a:spcPct val="0"/>
              </a:spcBef>
            </a:pPr>
            <a:r>
              <a:rPr lang="en-US" sz="10752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Referencias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0124" y="2306955"/>
            <a:ext cx="15027751" cy="696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[1] Manning, C. D., Raghavan, P., y Sch¨utze, H. (2008). Introduction to Information Retrieval. Cambridge University Press.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[2] Cormen, T. H., Leiserson, C. E., Rivest, R. L., y Stein, C. (2009). Introduction to Algorithms (3rd ed.). MIT Press.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[3] Knuth, D. E. (1997). The Art of Computer Programming, Volume 3: Sorting and Searching (2nd ed.). Addison-Wesley.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[4] Bird, S., Klein, E., y Loper, E. (2009). Natural Language Processing with Python. O’Reilly Media. 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 spc="165">
                <a:solidFill>
                  <a:srgbClr val="4D4C4C"/>
                </a:solidFill>
                <a:latin typeface="Helios Bold"/>
                <a:ea typeface="Helios Bold"/>
                <a:cs typeface="Helios Bold"/>
                <a:sym typeface="Helios Bold"/>
              </a:rPr>
              <a:t>[5] Newman, M. E. J. (2010). Networks: An Introduction. Oxford University Press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362961" y="383288"/>
            <a:ext cx="1098480" cy="10984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009650"/>
            <a:ext cx="16230600" cy="0"/>
          </a:xfrm>
          <a:prstGeom prst="line">
            <a:avLst/>
          </a:prstGeom>
          <a:ln cap="flat" w="85725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148166"/>
            <a:ext cx="415561" cy="416318"/>
          </a:xfrm>
          <a:custGeom>
            <a:avLst/>
            <a:gdLst/>
            <a:ahLst/>
            <a:cxnLst/>
            <a:rect r="r" b="b" t="t" l="l"/>
            <a:pathLst>
              <a:path h="416318" w="415561">
                <a:moveTo>
                  <a:pt x="0" y="0"/>
                </a:moveTo>
                <a:lnTo>
                  <a:pt x="415561" y="0"/>
                </a:lnTo>
                <a:lnTo>
                  <a:pt x="415561" y="416318"/>
                </a:lnTo>
                <a:lnTo>
                  <a:pt x="0" y="416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-3023648" y="6848523"/>
            <a:ext cx="7715406" cy="3535431"/>
            <a:chOff x="0" y="0"/>
            <a:chExt cx="886891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6891" cy="406400"/>
            </a:xfrm>
            <a:custGeom>
              <a:avLst/>
              <a:gdLst/>
              <a:ahLst/>
              <a:cxnLst/>
              <a:rect r="r" b="b" t="t" l="l"/>
              <a:pathLst>
                <a:path h="406400" w="886891">
                  <a:moveTo>
                    <a:pt x="683691" y="0"/>
                  </a:moveTo>
                  <a:cubicBezTo>
                    <a:pt x="795915" y="0"/>
                    <a:pt x="886891" y="90976"/>
                    <a:pt x="886891" y="203200"/>
                  </a:cubicBezTo>
                  <a:cubicBezTo>
                    <a:pt x="886891" y="315424"/>
                    <a:pt x="795915" y="406400"/>
                    <a:pt x="6836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8689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5568869" y="3430484"/>
            <a:ext cx="8227978" cy="4140271"/>
            <a:chOff x="0" y="0"/>
            <a:chExt cx="80764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7640" cy="406400"/>
            </a:xfrm>
            <a:custGeom>
              <a:avLst/>
              <a:gdLst/>
              <a:ahLst/>
              <a:cxnLst/>
              <a:rect r="r" b="b" t="t" l="l"/>
              <a:pathLst>
                <a:path h="406400" w="807640">
                  <a:moveTo>
                    <a:pt x="604440" y="0"/>
                  </a:moveTo>
                  <a:cubicBezTo>
                    <a:pt x="716665" y="0"/>
                    <a:pt x="807640" y="90976"/>
                    <a:pt x="807640" y="203200"/>
                  </a:cubicBezTo>
                  <a:cubicBezTo>
                    <a:pt x="807640" y="315424"/>
                    <a:pt x="716665" y="406400"/>
                    <a:pt x="6044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0" cap="sq">
              <a:solidFill>
                <a:srgbClr val="4D4C4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0764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36262" y="4529935"/>
            <a:ext cx="15015477" cy="242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42"/>
              </a:lnSpc>
              <a:spcBef>
                <a:spcPct val="0"/>
              </a:spcBef>
            </a:pPr>
            <a:r>
              <a:rPr lang="en-US" b="true" sz="14244" spc="-470">
                <a:solidFill>
                  <a:srgbClr val="4D4C4C"/>
                </a:solidFill>
                <a:latin typeface="TS Deniz Bold"/>
                <a:ea typeface="TS Deniz Bold"/>
                <a:cs typeface="TS Deniz Bold"/>
                <a:sym typeface="TS Deniz Bold"/>
              </a:rPr>
              <a:t>GRACIAS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833756" y="2470673"/>
            <a:ext cx="959812" cy="95981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9301162"/>
            <a:ext cx="16230600" cy="0"/>
          </a:xfrm>
          <a:prstGeom prst="line">
            <a:avLst/>
          </a:prstGeom>
          <a:ln cap="flat" w="85725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3530669" y="3872231"/>
            <a:ext cx="10849341" cy="130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  <a:spcBef>
                <a:spcPct val="0"/>
              </a:spcBef>
            </a:pPr>
            <a:r>
              <a:rPr lang="en-US" sz="7700">
                <a:solidFill>
                  <a:srgbClr val="000000"/>
                </a:solidFill>
                <a:latin typeface="Borel"/>
                <a:ea typeface="Borel"/>
                <a:cs typeface="Borel"/>
                <a:sym typeface="Borel"/>
              </a:rPr>
              <a:t>Muchas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1394858" y="3574259"/>
            <a:ext cx="2789715" cy="278971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6174871"/>
            <a:ext cx="1072795" cy="1072795"/>
          </a:xfrm>
          <a:custGeom>
            <a:avLst/>
            <a:gdLst/>
            <a:ahLst/>
            <a:cxnLst/>
            <a:rect r="r" b="b" t="t" l="l"/>
            <a:pathLst>
              <a:path h="1072795" w="1072795">
                <a:moveTo>
                  <a:pt x="0" y="0"/>
                </a:moveTo>
                <a:lnTo>
                  <a:pt x="1072795" y="0"/>
                </a:lnTo>
                <a:lnTo>
                  <a:pt x="1072795" y="1072795"/>
                </a:lnTo>
                <a:lnTo>
                  <a:pt x="0" y="1072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114003" y="2179401"/>
            <a:ext cx="2789715" cy="2789715"/>
          </a:xfrm>
          <a:custGeom>
            <a:avLst/>
            <a:gdLst/>
            <a:ahLst/>
            <a:cxnLst/>
            <a:rect r="r" b="b" t="t" l="l"/>
            <a:pathLst>
              <a:path h="2789715" w="2789715">
                <a:moveTo>
                  <a:pt x="0" y="0"/>
                </a:moveTo>
                <a:lnTo>
                  <a:pt x="2789716" y="0"/>
                </a:lnTo>
                <a:lnTo>
                  <a:pt x="2789716" y="2789716"/>
                </a:lnTo>
                <a:lnTo>
                  <a:pt x="0" y="2789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793568" y="8694706"/>
            <a:ext cx="415561" cy="416318"/>
          </a:xfrm>
          <a:custGeom>
            <a:avLst/>
            <a:gdLst/>
            <a:ahLst/>
            <a:cxnLst/>
            <a:rect r="r" b="b" t="t" l="l"/>
            <a:pathLst>
              <a:path h="416318" w="415561">
                <a:moveTo>
                  <a:pt x="0" y="0"/>
                </a:moveTo>
                <a:lnTo>
                  <a:pt x="415561" y="0"/>
                </a:lnTo>
                <a:lnTo>
                  <a:pt x="415561" y="416318"/>
                </a:lnTo>
                <a:lnTo>
                  <a:pt x="0" y="416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DAHK7Oz84II</dc:identifier>
  <dcterms:modified xsi:type="dcterms:W3CDTF">2011-08-01T06:04:30Z</dcterms:modified>
  <cp:revision>1</cp:revision>
  <dc:title>02. M</dc:title>
</cp:coreProperties>
</file>